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6" r:id="rId5"/>
    <p:sldId id="259" r:id="rId6"/>
    <p:sldId id="260" r:id="rId7"/>
    <p:sldId id="261" r:id="rId8"/>
    <p:sldId id="262" r:id="rId9"/>
    <p:sldId id="263" r:id="rId10"/>
    <p:sldId id="264" r:id="rId11"/>
    <p:sldId id="265"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Flood Risk Prediction</a:t>
            </a:r>
          </a:p>
        </p:txBody>
      </p:sp>
      <p:sp>
        <p:nvSpPr>
          <p:cNvPr id="3" name="Content Placeholder 2"/>
          <p:cNvSpPr>
            <a:spLocks noGrp="1"/>
          </p:cNvSpPr>
          <p:nvPr>
            <p:ph idx="1"/>
          </p:nvPr>
        </p:nvSpPr>
        <p:spPr/>
        <p:txBody>
          <a:bodyPr/>
          <a:lstStyle/>
          <a:p>
            <a:r>
              <a:rPr dirty="0"/>
              <a:t>Data Analytics Internship</a:t>
            </a:r>
          </a:p>
          <a:p>
            <a:r>
              <a:rPr dirty="0"/>
              <a:t>GNCIPL</a:t>
            </a:r>
          </a:p>
          <a:p>
            <a:r>
              <a:rPr lang="en-US" dirty="0"/>
              <a:t>By :</a:t>
            </a:r>
          </a:p>
          <a:p>
            <a:r>
              <a:rPr lang="en-US" dirty="0"/>
              <a:t> </a:t>
            </a:r>
            <a:r>
              <a:rPr lang="en-US" dirty="0" err="1"/>
              <a:t>Yogeshwaran</a:t>
            </a:r>
            <a:endParaRPr lang="en-US" dirty="0"/>
          </a:p>
          <a:p>
            <a:r>
              <a:rPr lang="en-US" dirty="0"/>
              <a:t>  Ramkrishna </a:t>
            </a:r>
          </a:p>
          <a:p>
            <a:r>
              <a:rPr lang="en-US" dirty="0"/>
              <a:t>  </a:t>
            </a:r>
            <a:r>
              <a:rPr lang="en-US" dirty="0" err="1"/>
              <a:t>Soumyadeep</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9427"/>
          </a:xfrm>
        </p:spPr>
        <p:txBody>
          <a:bodyPr>
            <a:normAutofit fontScale="90000"/>
          </a:bodyPr>
          <a:lstStyle/>
          <a:p>
            <a:r>
              <a:rPr dirty="0"/>
              <a:t>Introduction</a:t>
            </a:r>
          </a:p>
        </p:txBody>
      </p:sp>
      <p:sp>
        <p:nvSpPr>
          <p:cNvPr id="3" name="Content Placeholder 2"/>
          <p:cNvSpPr>
            <a:spLocks noGrp="1"/>
          </p:cNvSpPr>
          <p:nvPr>
            <p:ph idx="1"/>
          </p:nvPr>
        </p:nvSpPr>
        <p:spPr>
          <a:xfrm>
            <a:off x="457200" y="1052052"/>
            <a:ext cx="8229600" cy="5629632"/>
          </a:xfrm>
        </p:spPr>
        <p:txBody>
          <a:bodyPr>
            <a:normAutofit/>
          </a:bodyPr>
          <a:lstStyle/>
          <a:p>
            <a:pPr>
              <a:spcBef>
                <a:spcPts val="600"/>
              </a:spcBef>
              <a:spcAft>
                <a:spcPts val="600"/>
              </a:spcAft>
            </a:pPr>
            <a:r>
              <a:rPr lang="en-IN" sz="2400" dirty="0"/>
              <a:t>Floods are among the most devastating natural disasters, causing significant loss of life, infrastructure damage and economic disruption. Accurate flood risk prediction is essential for disaster preparedness, early warning systems and sustainable urban planning.</a:t>
            </a:r>
          </a:p>
          <a:p>
            <a:pPr>
              <a:spcBef>
                <a:spcPts val="600"/>
              </a:spcBef>
              <a:spcAft>
                <a:spcPts val="600"/>
              </a:spcAft>
            </a:pPr>
            <a:r>
              <a:rPr lang="en-IN" sz="2400" dirty="0"/>
              <a:t>This project focuses on predicting flood risk zones by integrating historical rainfall, river level and geospatial data using data science, machine learning and GIS-based visualization techniques.</a:t>
            </a:r>
            <a:endParaRPr lang="en-GB" sz="2400" dirty="0"/>
          </a:p>
          <a:p>
            <a:pPr>
              <a:spcBef>
                <a:spcPts val="600"/>
              </a:spcBef>
              <a:spcAft>
                <a:spcPts val="600"/>
              </a:spcAft>
            </a:pPr>
            <a:r>
              <a:rPr lang="en-IN" sz="2400" dirty="0"/>
              <a:t>The project follows an end-to-end data analytics pipeline, starting from data collection and preprocessing to predictive modelling and dashboard-based visualization for decision support.</a:t>
            </a:r>
            <a:endParaRPr lang="en-GB"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0097"/>
          </a:xfrm>
        </p:spPr>
        <p:txBody>
          <a:bodyPr>
            <a:normAutofit fontScale="90000"/>
          </a:bodyPr>
          <a:lstStyle/>
          <a:p>
            <a:r>
              <a:rPr dirty="0"/>
              <a:t>Objectives</a:t>
            </a:r>
          </a:p>
        </p:txBody>
      </p:sp>
      <p:sp>
        <p:nvSpPr>
          <p:cNvPr id="3" name="Content Placeholder 2"/>
          <p:cNvSpPr>
            <a:spLocks noGrp="1"/>
          </p:cNvSpPr>
          <p:nvPr>
            <p:ph idx="1"/>
          </p:nvPr>
        </p:nvSpPr>
        <p:spPr>
          <a:xfrm>
            <a:off x="457200" y="1052052"/>
            <a:ext cx="8229600" cy="5378245"/>
          </a:xfrm>
        </p:spPr>
        <p:txBody>
          <a:bodyPr>
            <a:normAutofit lnSpcReduction="10000"/>
          </a:bodyPr>
          <a:lstStyle/>
          <a:p>
            <a:pPr>
              <a:spcBef>
                <a:spcPts val="1200"/>
              </a:spcBef>
              <a:spcAft>
                <a:spcPts val="1200"/>
              </a:spcAft>
            </a:pPr>
            <a:r>
              <a:rPr sz="2800" dirty="0"/>
              <a:t>Analyze rainfall &amp; river data</a:t>
            </a:r>
          </a:p>
          <a:p>
            <a:pPr>
              <a:spcBef>
                <a:spcPts val="1200"/>
              </a:spcBef>
              <a:spcAft>
                <a:spcPts val="1200"/>
              </a:spcAft>
            </a:pPr>
            <a:r>
              <a:rPr sz="2800" dirty="0"/>
              <a:t>Predict </a:t>
            </a:r>
            <a:r>
              <a:rPr lang="en-US" sz="2800" dirty="0"/>
              <a:t>July month </a:t>
            </a:r>
            <a:r>
              <a:rPr sz="2800" dirty="0"/>
              <a:t>flood</a:t>
            </a:r>
            <a:r>
              <a:rPr lang="en-US" sz="2800" dirty="0"/>
              <a:t> risk factors using Jan to June month</a:t>
            </a:r>
            <a:r>
              <a:rPr sz="2800" dirty="0"/>
              <a:t> occurrence &amp; severity</a:t>
            </a:r>
            <a:endParaRPr lang="en-US" sz="2800" dirty="0"/>
          </a:p>
          <a:p>
            <a:pPr>
              <a:spcBef>
                <a:spcPts val="1200"/>
              </a:spcBef>
              <a:spcAft>
                <a:spcPts val="1200"/>
              </a:spcAft>
            </a:pPr>
            <a:r>
              <a:rPr lang="en-GB" sz="2800" dirty="0"/>
              <a:t>We will integrate multiple datasets, including (river discharge, water level), meteorological data (rainfall, temperature, humidity, wind speed, and direction), and geographic factors (land cover, soil class, population density, and impervious surfaces).</a:t>
            </a:r>
            <a:endParaRPr sz="2800" b="1" dirty="0"/>
          </a:p>
          <a:p>
            <a:pPr>
              <a:spcBef>
                <a:spcPts val="1200"/>
              </a:spcBef>
              <a:spcAft>
                <a:spcPts val="1200"/>
              </a:spcAft>
            </a:pPr>
            <a:r>
              <a:rPr sz="2800" dirty="0"/>
              <a:t>Identify flood-prone zones</a:t>
            </a:r>
          </a:p>
          <a:p>
            <a:pPr>
              <a:spcBef>
                <a:spcPts val="1200"/>
              </a:spcBef>
              <a:spcAft>
                <a:spcPts val="1200"/>
              </a:spcAft>
            </a:pPr>
            <a:r>
              <a:rPr sz="2800" dirty="0"/>
              <a:t>Build </a:t>
            </a:r>
            <a:r>
              <a:rPr lang="en-US" sz="2800" dirty="0"/>
              <a:t>Interactive Risk Factor </a:t>
            </a:r>
            <a:r>
              <a:rPr sz="2800" dirty="0"/>
              <a:t>dashboards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F31D5-6EE0-90F4-C648-B9DC29475A36}"/>
              </a:ext>
            </a:extLst>
          </p:cNvPr>
          <p:cNvSpPr>
            <a:spLocks noGrp="1"/>
          </p:cNvSpPr>
          <p:nvPr>
            <p:ph type="title"/>
          </p:nvPr>
        </p:nvSpPr>
        <p:spPr>
          <a:xfrm>
            <a:off x="457200" y="274638"/>
            <a:ext cx="8229600" cy="639762"/>
          </a:xfrm>
        </p:spPr>
        <p:txBody>
          <a:bodyPr>
            <a:normAutofit fontScale="90000"/>
          </a:bodyPr>
          <a:lstStyle/>
          <a:p>
            <a:r>
              <a:rPr lang="en-GB" dirty="0"/>
              <a:t>Objectives</a:t>
            </a:r>
          </a:p>
        </p:txBody>
      </p:sp>
      <p:sp>
        <p:nvSpPr>
          <p:cNvPr id="3" name="Content Placeholder 2">
            <a:extLst>
              <a:ext uri="{FF2B5EF4-FFF2-40B4-BE49-F238E27FC236}">
                <a16:creationId xmlns:a16="http://schemas.microsoft.com/office/drawing/2014/main" id="{0C57DE08-2C70-8D7D-812B-A605C8539C24}"/>
              </a:ext>
            </a:extLst>
          </p:cNvPr>
          <p:cNvSpPr>
            <a:spLocks noGrp="1"/>
          </p:cNvSpPr>
          <p:nvPr>
            <p:ph idx="1"/>
          </p:nvPr>
        </p:nvSpPr>
        <p:spPr/>
        <p:txBody>
          <a:bodyPr>
            <a:normAutofit/>
          </a:bodyPr>
          <a:lstStyle/>
          <a:p>
            <a:pPr>
              <a:spcBef>
                <a:spcPts val="1200"/>
              </a:spcBef>
              <a:spcAft>
                <a:spcPts val="1200"/>
              </a:spcAft>
            </a:pPr>
            <a:r>
              <a:rPr lang="en-US" sz="2400" dirty="0"/>
              <a:t>The project aims to use regression models, specifically XG Boost, to predict river levels and flow rates based on the January–June data.</a:t>
            </a:r>
          </a:p>
          <a:p>
            <a:pPr>
              <a:spcBef>
                <a:spcPts val="1200"/>
              </a:spcBef>
              <a:spcAft>
                <a:spcPts val="1200"/>
              </a:spcAft>
            </a:pPr>
            <a:r>
              <a:rPr lang="en-US" sz="2400" dirty="0"/>
              <a:t> By analyzing these predictions, we will then categorize flood risk into different levels (e.g., low, medium, high) to support early warning systems and disaster preparedness.</a:t>
            </a:r>
            <a:endParaRPr lang="en-GB" sz="2400" dirty="0"/>
          </a:p>
        </p:txBody>
      </p:sp>
    </p:spTree>
    <p:extLst>
      <p:ext uri="{BB962C8B-B14F-4D97-AF65-F5344CB8AC3E}">
        <p14:creationId xmlns:p14="http://schemas.microsoft.com/office/powerpoint/2010/main" val="246483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7414"/>
          </a:xfrm>
        </p:spPr>
        <p:txBody>
          <a:bodyPr/>
          <a:lstStyle/>
          <a:p>
            <a:r>
              <a:rPr dirty="0"/>
              <a:t>Data Sources</a:t>
            </a:r>
          </a:p>
        </p:txBody>
      </p:sp>
      <p:sp>
        <p:nvSpPr>
          <p:cNvPr id="3" name="Content Placeholder 2"/>
          <p:cNvSpPr>
            <a:spLocks noGrp="1"/>
          </p:cNvSpPr>
          <p:nvPr>
            <p:ph idx="1"/>
          </p:nvPr>
        </p:nvSpPr>
        <p:spPr>
          <a:xfrm>
            <a:off x="457200" y="1258530"/>
            <a:ext cx="8229600" cy="4867634"/>
          </a:xfrm>
        </p:spPr>
        <p:txBody>
          <a:bodyPr>
            <a:normAutofit/>
          </a:bodyPr>
          <a:lstStyle/>
          <a:p>
            <a:pPr>
              <a:spcBef>
                <a:spcPts val="600"/>
              </a:spcBef>
              <a:spcAft>
                <a:spcPts val="600"/>
              </a:spcAft>
            </a:pPr>
            <a:r>
              <a:rPr lang="en-US" sz="2800" dirty="0"/>
              <a:t>River_gauge_2024_daily_dataset_correct_city</a:t>
            </a:r>
            <a:endParaRPr lang="en-GB" sz="2800" dirty="0"/>
          </a:p>
          <a:p>
            <a:pPr>
              <a:spcBef>
                <a:spcPts val="600"/>
              </a:spcBef>
              <a:spcAft>
                <a:spcPts val="600"/>
              </a:spcAft>
            </a:pPr>
            <a:r>
              <a:rPr lang="en-GB" sz="2800" dirty="0" err="1"/>
              <a:t>soil_type_dataset</a:t>
            </a:r>
            <a:endParaRPr lang="en-GB" sz="2800" dirty="0"/>
          </a:p>
          <a:p>
            <a:pPr>
              <a:spcBef>
                <a:spcPts val="600"/>
              </a:spcBef>
              <a:spcAft>
                <a:spcPts val="600"/>
              </a:spcAft>
            </a:pPr>
            <a:r>
              <a:rPr lang="en-GB" sz="2800" dirty="0"/>
              <a:t>rainfall_dataset_2024_cleaned</a:t>
            </a:r>
          </a:p>
          <a:p>
            <a:pPr>
              <a:spcBef>
                <a:spcPts val="600"/>
              </a:spcBef>
              <a:spcAft>
                <a:spcPts val="600"/>
              </a:spcAft>
            </a:pPr>
            <a:r>
              <a:rPr lang="en-GB" sz="2800" dirty="0"/>
              <a:t>era5_wind_all_stations</a:t>
            </a:r>
          </a:p>
          <a:p>
            <a:pPr>
              <a:spcBef>
                <a:spcPts val="600"/>
              </a:spcBef>
              <a:spcAft>
                <a:spcPts val="600"/>
              </a:spcAft>
            </a:pPr>
            <a:r>
              <a:rPr lang="en-GB" sz="2800" dirty="0" err="1"/>
              <a:t>population_density_dataset</a:t>
            </a:r>
            <a:endParaRPr lang="en-GB" sz="2800" dirty="0"/>
          </a:p>
          <a:p>
            <a:pPr>
              <a:spcBef>
                <a:spcPts val="600"/>
              </a:spcBef>
              <a:spcAft>
                <a:spcPts val="600"/>
              </a:spcAft>
            </a:pPr>
            <a:r>
              <a:rPr lang="en-GB" sz="2800" dirty="0"/>
              <a:t>Impervious_surface15km2_%</a:t>
            </a:r>
          </a:p>
          <a:p>
            <a:pPr>
              <a:spcBef>
                <a:spcPts val="600"/>
              </a:spcBef>
              <a:spcAft>
                <a:spcPts val="600"/>
              </a:spcAft>
            </a:pPr>
            <a:r>
              <a:rPr lang="en-GB" sz="2800" dirty="0" err="1"/>
              <a:t>elevation_Ivl</a:t>
            </a:r>
            <a:endParaRPr lang="en-GB" sz="2800" dirty="0"/>
          </a:p>
          <a:p>
            <a:pPr>
              <a:spcBef>
                <a:spcPts val="600"/>
              </a:spcBef>
              <a:spcAft>
                <a:spcPts val="600"/>
              </a:spcAft>
            </a:pPr>
            <a:r>
              <a:rPr lang="en-GB" sz="2800" dirty="0" err="1"/>
              <a:t>corrected_landcover_class</a:t>
            </a:r>
            <a:endParaRPr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Tools Used</a:t>
            </a:r>
          </a:p>
        </p:txBody>
      </p:sp>
      <p:sp>
        <p:nvSpPr>
          <p:cNvPr id="3" name="Content Placeholder 2"/>
          <p:cNvSpPr>
            <a:spLocks noGrp="1"/>
          </p:cNvSpPr>
          <p:nvPr>
            <p:ph idx="1"/>
          </p:nvPr>
        </p:nvSpPr>
        <p:spPr/>
        <p:txBody>
          <a:bodyPr>
            <a:normAutofit/>
          </a:bodyPr>
          <a:lstStyle/>
          <a:p>
            <a:pPr>
              <a:spcBef>
                <a:spcPts val="600"/>
              </a:spcBef>
              <a:spcAft>
                <a:spcPts val="600"/>
              </a:spcAft>
            </a:pPr>
            <a:r>
              <a:rPr sz="2800" dirty="0"/>
              <a:t>Python</a:t>
            </a:r>
            <a:r>
              <a:rPr lang="en-US" sz="2800" dirty="0"/>
              <a:t>(XGBOOST,REGRESSION…)</a:t>
            </a:r>
          </a:p>
          <a:p>
            <a:pPr>
              <a:spcBef>
                <a:spcPts val="600"/>
              </a:spcBef>
              <a:spcAft>
                <a:spcPts val="600"/>
              </a:spcAft>
            </a:pPr>
            <a:r>
              <a:rPr sz="2800" dirty="0"/>
              <a:t> R</a:t>
            </a:r>
          </a:p>
          <a:p>
            <a:pPr>
              <a:spcBef>
                <a:spcPts val="600"/>
              </a:spcBef>
              <a:spcAft>
                <a:spcPts val="600"/>
              </a:spcAft>
            </a:pPr>
            <a:r>
              <a:rPr lang="en-US" sz="2800" dirty="0"/>
              <a:t>SQL</a:t>
            </a:r>
          </a:p>
          <a:p>
            <a:pPr>
              <a:spcBef>
                <a:spcPts val="600"/>
              </a:spcBef>
              <a:spcAft>
                <a:spcPts val="600"/>
              </a:spcAft>
            </a:pPr>
            <a:r>
              <a:rPr sz="2800" dirty="0"/>
              <a:t>GIS Libraries</a:t>
            </a:r>
          </a:p>
          <a:p>
            <a:pPr>
              <a:spcBef>
                <a:spcPts val="600"/>
              </a:spcBef>
              <a:spcAft>
                <a:spcPts val="600"/>
              </a:spcAft>
            </a:pPr>
            <a:r>
              <a:rPr sz="2800" dirty="0"/>
              <a:t>Tableau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lstStyle/>
          <a:p>
            <a:r>
              <a:t>ETL → Cleaning → EDA → Feature Engineering → ML → Dashboard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EDA Insights</a:t>
            </a:r>
          </a:p>
        </p:txBody>
      </p:sp>
      <p:sp>
        <p:nvSpPr>
          <p:cNvPr id="3" name="Content Placeholder 2"/>
          <p:cNvSpPr>
            <a:spLocks noGrp="1"/>
          </p:cNvSpPr>
          <p:nvPr>
            <p:ph idx="1"/>
          </p:nvPr>
        </p:nvSpPr>
        <p:spPr/>
        <p:txBody>
          <a:bodyPr/>
          <a:lstStyle/>
          <a:p>
            <a:r>
              <a:t>Seasonal rainfall patterns</a:t>
            </a:r>
          </a:p>
          <a:p>
            <a:r>
              <a:t>Weak rainfall–river correlation</a:t>
            </a:r>
          </a:p>
          <a:p>
            <a:r>
              <a:t>Low elevation = high risk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ML Modeling</a:t>
            </a:r>
          </a:p>
        </p:txBody>
      </p:sp>
      <p:sp>
        <p:nvSpPr>
          <p:cNvPr id="3" name="Content Placeholder 2"/>
          <p:cNvSpPr>
            <a:spLocks noGrp="1"/>
          </p:cNvSpPr>
          <p:nvPr>
            <p:ph idx="1"/>
          </p:nvPr>
        </p:nvSpPr>
        <p:spPr/>
        <p:txBody>
          <a:bodyPr/>
          <a:lstStyle/>
          <a:p>
            <a:r>
              <a:t>XGBoost Regressors</a:t>
            </a:r>
          </a:p>
          <a:p>
            <a:r>
              <a:t>High accuracy (R² &gt; 0.98)</a:t>
            </a:r>
          </a:p>
          <a:p>
            <a:r>
              <a:t>Severity-based risk scoring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a:t>
            </a:r>
          </a:p>
        </p:txBody>
      </p:sp>
      <p:sp>
        <p:nvSpPr>
          <p:cNvPr id="3" name="Content Placeholder 2"/>
          <p:cNvSpPr>
            <a:spLocks noGrp="1"/>
          </p:cNvSpPr>
          <p:nvPr>
            <p:ph idx="1"/>
          </p:nvPr>
        </p:nvSpPr>
        <p:spPr/>
        <p:txBody>
          <a:bodyPr/>
          <a:lstStyle/>
          <a:p>
            <a:r>
              <a:t>High risk in urban &amp; low-lying areas</a:t>
            </a:r>
          </a:p>
          <a:p>
            <a:r>
              <a:t>Reliable flood predictions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End-to-end flood risk framework</a:t>
            </a:r>
          </a:p>
          <a:p>
            <a:r>
              <a:t>Supports early warning &amp; planning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24</TotalTime>
  <Words>374</Words>
  <Application>Microsoft Office PowerPoint</Application>
  <PresentationFormat>On-screen Show (4:3)</PresentationFormat>
  <Paragraphs>51</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Flood Risk Prediction</vt:lpstr>
      <vt:lpstr>Introduction</vt:lpstr>
      <vt:lpstr>Objectives</vt:lpstr>
      <vt:lpstr>Objectives</vt:lpstr>
      <vt:lpstr>Data Sources</vt:lpstr>
      <vt:lpstr>Tools Used</vt:lpstr>
      <vt:lpstr>Methodology</vt:lpstr>
      <vt:lpstr>EDA Insights</vt:lpstr>
      <vt:lpstr>ML Modeling</vt:lpstr>
      <vt:lpstr>Results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YOGESHWARAN N</cp:lastModifiedBy>
  <cp:revision>2</cp:revision>
  <dcterms:created xsi:type="dcterms:W3CDTF">2013-01-27T09:14:16Z</dcterms:created>
  <dcterms:modified xsi:type="dcterms:W3CDTF">2025-12-16T10:09:04Z</dcterms:modified>
  <cp:category/>
</cp:coreProperties>
</file>